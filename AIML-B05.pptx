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64" r:id="rId3"/>
    <p:sldId id="263" r:id="rId4"/>
    <p:sldId id="265" r:id="rId5"/>
    <p:sldId id="282" r:id="rId6"/>
    <p:sldId id="266" r:id="rId7"/>
    <p:sldId id="267" r:id="rId8"/>
    <p:sldId id="268" r:id="rId9"/>
    <p:sldId id="269" r:id="rId10"/>
    <p:sldId id="270" r:id="rId11"/>
    <p:sldId id="283" r:id="rId12"/>
    <p:sldId id="271" r:id="rId13"/>
    <p:sldId id="272" r:id="rId14"/>
    <p:sldId id="273" r:id="rId15"/>
    <p:sldId id="274" r:id="rId16"/>
    <p:sldId id="275" r:id="rId17"/>
    <p:sldId id="284" r:id="rId18"/>
    <p:sldId id="276" r:id="rId19"/>
    <p:sldId id="277" r:id="rId20"/>
    <p:sldId id="278" r:id="rId21"/>
    <p:sldId id="279" r:id="rId22"/>
    <p:sldId id="280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EC7E69"/>
    <a:srgbClr val="EC7E32"/>
    <a:srgbClr val="E77E32"/>
    <a:srgbClr val="E77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0"/>
  </p:normalViewPr>
  <p:slideViewPr>
    <p:cSldViewPr snapToGrid="0">
      <p:cViewPr>
        <p:scale>
          <a:sx n="66" d="100"/>
          <a:sy n="66" d="100"/>
        </p:scale>
        <p:origin x="1282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10C68-B77B-4431-A0A7-693CF58E734A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2EA21-F04E-4710-B9FC-7A1962EBE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87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64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24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57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F7C9-8BEA-E410-9F12-3B27C44D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EF403-257B-A023-6009-70BACB3ED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EA4B4-C65D-6424-54DD-66A36907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6D20-BB8E-561D-53FB-6FB6058F0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982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16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08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80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07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36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690B7-CA98-91B5-E2B4-514C1B65C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CE7EB-25C5-93F4-79BC-17BC41CAB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157C8-8158-74FE-BA5F-C1109EE3A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168F4-6618-F4D3-B3B1-C7C812437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516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426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57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938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14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95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8621-AE9D-BF1B-DD57-CE877879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4FF25-FB97-AB59-9668-6E3581533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F1AEA-6163-BAA3-E6CA-2DCC4F10F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98B95-2857-5099-0658-41F4D97FF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712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95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13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99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3373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16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2EA21-F04E-4710-B9FC-7A1962EBE760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188B43-6102-C587-7A2F-7FBBF59F8F4D}"/>
              </a:ext>
            </a:extLst>
          </p:cNvPr>
          <p:cNvSpPr/>
          <p:nvPr userDrawn="1"/>
        </p:nvSpPr>
        <p:spPr>
          <a:xfrm>
            <a:off x="0" y="6464711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7534E-BF6C-2CFD-16E9-84EA6172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80B7E-AAA9-C962-786B-78A0B50E6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5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363FB4F-1B55-FCA6-A94B-FE69FF31C7EC}"/>
              </a:ext>
            </a:extLst>
          </p:cNvPr>
          <p:cNvSpPr/>
          <p:nvPr userDrawn="1"/>
        </p:nvSpPr>
        <p:spPr>
          <a:xfrm>
            <a:off x="0" y="6328186"/>
            <a:ext cx="12192000" cy="393289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9E308-5323-AE5D-6FA7-ED71A6BA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451D-BD97-7FD0-FF0C-A5112C67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1E600-3BBF-7179-64F8-7BF67858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24DB-6B9A-4615-862D-DCC9162E1D46}" type="datetime1">
              <a:rPr lang="en-IN" smtClean="0"/>
              <a:t>20-09-2026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49D0-589B-356A-C132-17EC125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78BB-28AC-EA14-DC42-29260E08F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19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07D0-82DE-FA4A-EADB-1BEC487A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600A5-5C2C-00C3-916A-DF6214BB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F5CE-74CC-CF22-710E-082B7D80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CEB4-FD16-4B07-9207-FB300F7B14E0}" type="datetime1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AAD5-EBF3-6851-32E4-D4FBA96C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3601-9A03-2F15-2F0A-327D55FF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7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6E04-DE19-84EF-6EAD-5E68D54F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6FCB-7A4F-B695-D2E9-54090A944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C53CD-6C00-99BA-5BD0-0E766D390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50DD-602A-CC85-5499-22E0FF30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49330-105E-4C2D-A945-D7CB0B65AA0D}" type="datetime1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9BBE1-B537-7E2E-C2C4-08845C67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4B757-EF27-F899-BAF4-B1881173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361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A2E0-9C62-08C2-AB3E-B35BC5C5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22F9-75B3-17FE-C283-DD4BECA4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EB91-21C0-BA49-75C9-60FD0E0EF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01927-DF5C-9C56-8562-7016E6572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C59F2-F071-5440-8C46-00C73B7D0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961286-08BE-878F-F428-4DDDD6BC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794-44E1-4BEF-BC28-A1686AB91B35}" type="datetime1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F68E0-6F17-B4CD-53C3-DFC16469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C4CBA-01B5-C2C4-5335-B4EB35E5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3B32-7417-39CF-B839-3EEB29A1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A2FE7-36B6-6E9C-5856-38F958DD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09A1-C81B-427D-BCEA-27B741B28E1A}" type="datetime1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31B30-D694-3C06-A324-C1D89994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9968-5814-8F57-EE5C-05F51ABB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3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44DA-A9F6-ED5C-2118-0A44894C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757F5-B3DD-41B2-8AD1-E2C7F01E8325}" type="datetime1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00EC8-C1AB-B577-EA4E-7D2E7D7F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9834-7C1C-DD95-00F7-1046CC02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408B-6746-EBBF-A1B8-482E0D54E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8A51-0194-E201-F62E-7028F4490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DF6D2-0007-C8C6-5E66-A73252FA5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9C60F-EE63-63C0-A3C9-201A1DEB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2F12-6279-426C-8A42-8E638B69DA5E}" type="datetime1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88CB9-B2B4-DD3C-DF42-5FF8C80C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FCC53-DC75-9AFB-03C5-B065AC50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6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14FA-37B6-93A5-E0E8-E926B536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E05A2-0EA7-C30C-EFFA-E0B149436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07175-07C8-0612-615D-57BF8C074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36AA1-2BD7-CB7C-1AA4-34D02985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4110-22B7-47D9-9F58-54C5B302AF6D}" type="datetime1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C2950-CA0B-091E-E2BA-A60E75FD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8AF4-0554-5223-D39A-DA1DC68D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3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9AE2-374C-4EF3-9532-31D0CE1D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2E305-5684-04F7-337B-C867ECD3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4A89-E93B-DDA0-25FF-C2242EE9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75400-B1DF-4AF6-AB50-CBCE8962669C}" type="datetime1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B2AC-EE20-661D-48EC-09C572C9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A3F4-0238-70CC-420E-0F280FEC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956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1AF6-9AAD-E282-9DDD-E66CF88AD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F3A46-D4B7-3837-9A94-A663DE2A2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3946-DFAA-48C8-71CA-3B250171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8D284-3CDB-49DE-A927-05878722C64F}" type="datetime1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106D7-F25C-47BB-2611-089736A8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811E5-1590-562C-784B-5F2A1B3D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821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9F9B-AC20-A733-D454-B4371C81A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C91E2-B7CD-A874-996D-4DC7B9B97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17DBF-C921-5C0C-AF47-73104DB6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16E3-260E-2225-9CDD-CC6F863C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64C39-906C-DBDA-B67B-6983E94C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668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F780-BEEA-3ACF-495F-9A81F6C5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CC6CD-40F7-8DE0-0ED7-0C7C63E9E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DFB40-F978-7D10-8F76-2144E1533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882E4-371F-58F2-C725-E451CBEC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44620-3F55-3144-14C6-10744186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14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26C8-E837-CE82-90CF-874FDE3E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0F2C0-7121-6DF3-32A4-F323CEF79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CCC65-28A8-0DDB-899D-643A6AC1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BCAB-C315-CBC7-3B71-928B9ABB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37F3F-FC12-3C78-85AC-56B2D7FD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346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BCE3-174A-E252-5D08-CAC3A250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3923-2C19-3203-4BC1-1BF049D2C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AE1B7-11AE-6256-03E5-992C436D3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FBA40-5C06-40D5-FA4D-A2646CFE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BD83D-D411-FDA8-2AE7-D935FC40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1C86F-7151-8CA5-A5C5-E9AF267A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918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B1A7-1F64-C5E3-6F7A-3532E3521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65188-F682-9AD5-B4C5-1EDB492A2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48D62-0712-07FF-6441-E09E4ADD8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33682-6E84-52CC-DEF0-1336CD85E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498612-2F49-3AF6-2B6D-DC8B584FE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23ABD1-AD40-C84B-F11A-8F1F3DB1F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991117-DC2F-F9B3-E297-E5A28CED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CE402-4123-3C96-0AC6-01580B9D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644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9D80-5DB3-62C2-74AD-B8162714B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E9751-4038-9204-1FCA-D84B02A0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73500-D473-7C22-A588-2066DCEC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7F0CB-DF82-8FBC-D3DE-1DA4A012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104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827DF-74A9-AAD0-59AB-F5801E379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E1296-DF54-D5A0-B750-8F8E94A0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7BD42-6FB6-0366-E0D5-000C32DC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030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5CBE-1D8D-0861-4864-B7D0AFCB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6ADFE-C135-D073-A300-FA5AE37D6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2EC22-E56E-D6EB-396A-3C8040D5E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0A810-999C-E1C2-D5CB-7E9253EC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EB851-83AE-96DF-EE45-58AA249A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9F5B2-5AC1-CAA0-9A24-50E30A83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8360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19A6-4993-C11E-5BD1-03B2674E3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DFE37D-57DB-E8BD-5611-9529A3C47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1FB77-D737-1D7A-991D-3B82B7905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6F3A4-FA43-8804-3689-5A63C054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FD0C5-14EA-2F69-3C16-AAF02B6D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99E87-DF71-7D16-39CE-B3789677D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380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FD65-AC24-8616-08F3-3CA6F9F87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C2DAE-15C4-3D50-4D7A-30B0E1D11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662B8-C1C8-FF13-82DB-1A62EA81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8821-00B3-2273-AE51-D0FF4682B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4D001-0034-6B45-64D8-D93757C6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0284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A57B0-6CEA-027E-9020-C60C44203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420D0-49FE-93FE-435A-C3209FF6C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3189B-C3EA-E2EE-3E81-B1F72C1B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D6E3-9270-BED2-CAA4-96D2892D3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64636-F763-D770-7B95-69549DC0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49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F6F91-B629-DA42-57EF-31DA782B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ECB1-08ED-AF18-FDF8-8FE7F9F7D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C7C5D-06B8-2007-9878-FF4B74A5D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7110-61B4-45BA-A110-4FCE83D5E720}" type="datetime1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DC9-EB89-D372-7DE5-F164AC424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VVIT @ Dept. CSM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92DD-B99B-9C26-E756-4CB70ABD4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72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3EF57-4230-D9F2-E0A3-A8514F781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1E62B-3F88-4EB2-46B4-7777A0B54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57A01-4C1B-46A8-BAF2-D32E03338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A6607-3CFB-44C1-9DA4-FA655E8A1CD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6347-452D-B64E-4055-2804E105D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3D121-DC66-7C63-ACCD-C500788A5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D45AC-94D2-46FD-99E5-02CF41CC1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42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5935824" cy="365125"/>
          </a:xfrm>
        </p:spPr>
        <p:txBody>
          <a:bodyPr/>
          <a:lstStyle/>
          <a:p>
            <a:fld id="{29B1A8B0-3C3E-4DAC-946D-F1A2452D5558}" type="datetime1">
              <a:rPr lang="en-IN" smtClean="0">
                <a:solidFill>
                  <a:srgbClr val="E77E69"/>
                </a:solidFill>
              </a:rPr>
              <a:t>20-09-2026</a:t>
            </a:fld>
            <a:endParaRPr lang="en-IN" dirty="0">
              <a:solidFill>
                <a:srgbClr val="E77E6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A4E2-163B-4ABA-8562-AD05AC3F17C5}" type="slidenum">
              <a:rPr lang="en-IN" smtClean="0">
                <a:solidFill>
                  <a:srgbClr val="E77E69"/>
                </a:solidFill>
              </a:rPr>
              <a:t>1</a:t>
            </a:fld>
            <a:endParaRPr lang="en-IN" dirty="0">
              <a:solidFill>
                <a:srgbClr val="E77E6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880" y="223842"/>
            <a:ext cx="2174240" cy="151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1448" y="1741280"/>
            <a:ext cx="10169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sz="2800" dirty="0"/>
              <a:t>Agentic AI-Based Smart Compliance Auditor &amp; AI Security Validation     Platform for Enterprise LLM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2442" y="2987431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- 1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6680" y="334179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AIML-B05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9728" y="4855458"/>
            <a:ext cx="2967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Mahammad Firose Shaik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0766" y="4381290"/>
            <a:ext cx="260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Batch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3831" y="4909241"/>
            <a:ext cx="2608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P.Dolly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Iswarya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(23BQ1A61A4)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P.Shiva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Devi Apoorva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(23BQ1A6196)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0600" y="4931118"/>
            <a:ext cx="3450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Palagani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Hari Siva Prasad  (24BQ5A6112)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Mallavarapu Pradeep Chandra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(23BQ1A6174)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378" y="4345886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</p:txBody>
      </p:sp>
      <p:sp>
        <p:nvSpPr>
          <p:cNvPr id="15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rgbClr val="E77E32"/>
                </a:solidFill>
              </a:rPr>
              <a:t>Dept. CSM @ VVIT</a:t>
            </a:r>
          </a:p>
        </p:txBody>
      </p:sp>
    </p:spTree>
    <p:extLst>
      <p:ext uri="{BB962C8B-B14F-4D97-AF65-F5344CB8AC3E}">
        <p14:creationId xmlns:p14="http://schemas.microsoft.com/office/powerpoint/2010/main" val="50198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11920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Platform for Enterprise LLM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FD88B-CD6C-E6D8-190F-21FF841CCA8A}"/>
              </a:ext>
            </a:extLst>
          </p:cNvPr>
          <p:cNvSpPr txBox="1"/>
          <p:nvPr/>
        </p:nvSpPr>
        <p:spPr>
          <a:xfrm>
            <a:off x="135928" y="1328394"/>
            <a:ext cx="11582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dirty="0"/>
              <a:t>The rapid adoption of AI and LLM-based applications in enterprises has introduced new cybersecurity challenges alongside increasing compliance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681" y="5564665"/>
            <a:ext cx="10225762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/>
            <a:r>
              <a:rPr lang="en-IN" dirty="0"/>
              <a:t>Our platform aims to unify compliance auditing, AI security validation, multi-agent debate, risk analysis, forecast, roadmap, and reporting into a single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815" y="2023600"/>
            <a:ext cx="5578997" cy="2725948"/>
          </a:xfrm>
          <a:prstGeom prst="roundRect">
            <a:avLst>
              <a:gd name="adj" fmla="val 251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87301" y="1961479"/>
            <a:ext cx="5175808" cy="2725948"/>
          </a:xfrm>
          <a:prstGeom prst="roundRect">
            <a:avLst>
              <a:gd name="adj" fmla="val 251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1924" y="1987510"/>
            <a:ext cx="53127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Researchers spend significant time: 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Searching for relevant compliance controls (ISO 27001, NIST CSF)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Understanding existing AI security threats (OWASP  LLM Top 10)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Comparing different security testing approaches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Identifying compliance gaps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Selecting appropriate mitigation strategies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Planning remediation roadmaps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Generating audit reports for executive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0411" y="2093912"/>
            <a:ext cx="47104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workflow is fragmented across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platforms such as 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Compliance tools (ISO/NIST checkers)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AI security scanners (prompt injection, jailbreak)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Manual audit reports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Google Scholar, </a:t>
            </a:r>
            <a:r>
              <a:rPr lang="en-IN" dirty="0" err="1"/>
              <a:t>arXiv</a:t>
            </a:r>
            <a:r>
              <a:rPr lang="en-IN" dirty="0"/>
              <a:t>, GitHub, etc.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IN" dirty="0"/>
              <a:t>Separate risk analysis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49214" y="4955223"/>
            <a:ext cx="86149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/>
              <a:t>Existing tools mainly focus on either compliance OR AI security – not both.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3120BA-C709-1D11-E2AB-3998DA20BE0D}"/>
              </a:ext>
            </a:extLst>
          </p:cNvPr>
          <p:cNvSpPr txBox="1"/>
          <p:nvPr/>
        </p:nvSpPr>
        <p:spPr>
          <a:xfrm>
            <a:off x="11820" y="6304002"/>
            <a:ext cx="184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200" dirty="0"/>
          </a:p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19FD97-EB1D-249F-87C1-3256C164EA39}"/>
              </a:ext>
            </a:extLst>
          </p:cNvPr>
          <p:cNvSpPr txBox="1"/>
          <p:nvPr/>
        </p:nvSpPr>
        <p:spPr>
          <a:xfrm>
            <a:off x="-1" y="6488648"/>
            <a:ext cx="9028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2AAC90-D07C-417D-96C6-81B39DB87062}" type="datetime1"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20-09-2026</a:t>
            </a:fld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28F511-4E2A-073F-90DA-49AB57B18B75}"/>
              </a:ext>
            </a:extLst>
          </p:cNvPr>
          <p:cNvSpPr txBox="1"/>
          <p:nvPr/>
        </p:nvSpPr>
        <p:spPr>
          <a:xfrm>
            <a:off x="5322912" y="6491995"/>
            <a:ext cx="1467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26644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7CE221-89F6-7EB0-6DC7-8ED748A6ED38}"/>
              </a:ext>
            </a:extLst>
          </p:cNvPr>
          <p:cNvSpPr/>
          <p:nvPr/>
        </p:nvSpPr>
        <p:spPr>
          <a:xfrm>
            <a:off x="184731" y="5646813"/>
            <a:ext cx="11920141" cy="88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D420294C-7DD8-D7AC-D5E2-CCA7142A705C}"/>
              </a:ext>
            </a:extLst>
          </p:cNvPr>
          <p:cNvSpPr/>
          <p:nvPr/>
        </p:nvSpPr>
        <p:spPr>
          <a:xfrm>
            <a:off x="93788" y="1675970"/>
            <a:ext cx="5922251" cy="3689132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84731" y="823819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606444" y="18665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Platform for Enterprise LLM Systems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37416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90057" y="874611"/>
            <a:ext cx="100134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/>
              <a:t>Multi-AI Agent Oriented Privacy Policy Compliance Checking Based on Large Language Models in Mobile IoT Systems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/>
              <a:t>Yangyan</a:t>
            </a:r>
            <a:r>
              <a:rPr lang="en-IN" sz="1400" dirty="0"/>
              <a:t> Zeng et al., 2026 | IEEE Internet of Things Journal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1E9C3-D112-CBD8-1137-EA2E494922FA}"/>
              </a:ext>
            </a:extLst>
          </p:cNvPr>
          <p:cNvSpPr txBox="1"/>
          <p:nvPr/>
        </p:nvSpPr>
        <p:spPr>
          <a:xfrm>
            <a:off x="100756" y="1649968"/>
            <a:ext cx="6206738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b="1" dirty="0"/>
              <a:t>Multi-AI Agent Privacy Policy Compliance Checking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Uses </a:t>
            </a:r>
            <a:r>
              <a:rPr lang="en-IN" b="1" dirty="0"/>
              <a:t>Retrieval-Augmented Generation (RAG)</a:t>
            </a:r>
            <a:r>
              <a:rPr lang="en-IN" dirty="0"/>
              <a:t> with a privacy knowledge base.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Evidence retrieval</a:t>
            </a:r>
            <a:r>
              <a:rPr lang="en-IN" dirty="0"/>
              <a:t> identifies relevant privacy-policy information.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Task Complexity Assessment Model (TCAM)</a:t>
            </a:r>
            <a:r>
              <a:rPr lang="en-IN" dirty="0"/>
              <a:t> determines whether single or multiple LLM agents are required.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Multiple heterogeneous LLM agents</a:t>
            </a:r>
            <a:r>
              <a:rPr lang="en-IN" dirty="0"/>
              <a:t> perform compliance evaluation.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Uses </a:t>
            </a:r>
            <a:r>
              <a:rPr lang="en-IN" b="1" dirty="0"/>
              <a:t>voting and weighted aggregation</a:t>
            </a:r>
            <a:r>
              <a:rPr lang="en-IN" dirty="0"/>
              <a:t> to combine agent decisions.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Performs </a:t>
            </a:r>
            <a:r>
              <a:rPr lang="en-IN" b="1" dirty="0"/>
              <a:t>consistency verification</a:t>
            </a:r>
            <a:r>
              <a:rPr lang="en-IN" dirty="0"/>
              <a:t> and maps results to legal provisions.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EC030-E464-125B-9955-48F42990C3C6}"/>
              </a:ext>
            </a:extLst>
          </p:cNvPr>
          <p:cNvSpPr txBox="1"/>
          <p:nvPr/>
        </p:nvSpPr>
        <p:spPr>
          <a:xfrm>
            <a:off x="0" y="652639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200" dirty="0"/>
          </a:p>
          <a:p>
            <a:endParaRPr lang="en-IN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355C7B-0E09-0481-ABAA-DEC2D895F830}"/>
              </a:ext>
            </a:extLst>
          </p:cNvPr>
          <p:cNvSpPr txBox="1"/>
          <p:nvPr/>
        </p:nvSpPr>
        <p:spPr>
          <a:xfrm>
            <a:off x="11801822" y="6481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FBE5A8-6453-10A3-2397-8AD63C92B6C1}"/>
              </a:ext>
            </a:extLst>
          </p:cNvPr>
          <p:cNvSpPr txBox="1"/>
          <p:nvPr/>
        </p:nvSpPr>
        <p:spPr>
          <a:xfrm>
            <a:off x="0" y="6488648"/>
            <a:ext cx="9028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2AAC90-D07C-417D-96C6-81B39DB87062}" type="datetime1"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20-09-2026</a:t>
            </a:fld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21A94D-AB13-BB1A-4782-7E59AEBADB05}"/>
              </a:ext>
            </a:extLst>
          </p:cNvPr>
          <p:cNvSpPr txBox="1"/>
          <p:nvPr/>
        </p:nvSpPr>
        <p:spPr>
          <a:xfrm>
            <a:off x="5318449" y="6481688"/>
            <a:ext cx="151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  <a:p>
            <a:endParaRPr lang="en-IN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448C8E-7FC3-9E42-6E1F-9ADB8E4C6539}"/>
              </a:ext>
            </a:extLst>
          </p:cNvPr>
          <p:cNvSpPr txBox="1"/>
          <p:nvPr/>
        </p:nvSpPr>
        <p:spPr>
          <a:xfrm>
            <a:off x="221948" y="5892642"/>
            <a:ext cx="11032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Privacy Policy → RAG → Evidence Retrieval → TCAM → LLM / Multi-Agent Evaluation → Aggregation → Consistency </a:t>
            </a:r>
          </a:p>
          <a:p>
            <a:r>
              <a:rPr lang="en-IN" dirty="0"/>
              <a:t>Verification → Legal Mapping → Compliance Report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10B4B7-A41B-DC9F-9AB9-093C208048E1}"/>
              </a:ext>
            </a:extLst>
          </p:cNvPr>
          <p:cNvSpPr txBox="1"/>
          <p:nvPr/>
        </p:nvSpPr>
        <p:spPr>
          <a:xfrm>
            <a:off x="221948" y="5531369"/>
            <a:ext cx="820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Flow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1993FF-81DC-B762-9AC9-CB27BAEEA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964" y="1675969"/>
            <a:ext cx="5625858" cy="38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65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E9B5-54F8-791D-1CCE-027B0A9E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DB7D03-A665-78B5-F7A4-344897E01B5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851EFE-D9C7-6F54-AF59-B234AE9F6D86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33E88B-D17F-4738-006E-A80828302583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7F853B-EB8C-860E-A440-8071550C41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59D0320-F6E2-8B01-226B-34F022CF0C84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Platform for Enterprise LLM Systems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7B05FA-2771-9E7B-C4EA-4FB0814A08F8}"/>
              </a:ext>
            </a:extLst>
          </p:cNvPr>
          <p:cNvSpPr txBox="1"/>
          <p:nvPr/>
        </p:nvSpPr>
        <p:spPr>
          <a:xfrm flipH="1">
            <a:off x="135928" y="1337416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41518C-7D78-19DF-6192-C5506173B626}"/>
              </a:ext>
            </a:extLst>
          </p:cNvPr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/>
              <a:t>Multi-AI Agent Oriented Privacy Policy Compliance Checking Based on Large Language Models in Mobile IoT Systems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/>
              <a:t>Yangyan</a:t>
            </a:r>
            <a:r>
              <a:rPr lang="en-IN" sz="1400" dirty="0"/>
              <a:t> Zeng et al., 2026 | IEEE Internet of Things Journal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58DC36-F283-03CE-6D7D-AA852251E4DF}"/>
              </a:ext>
            </a:extLst>
          </p:cNvPr>
          <p:cNvSpPr txBox="1"/>
          <p:nvPr/>
        </p:nvSpPr>
        <p:spPr>
          <a:xfrm>
            <a:off x="0" y="652639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200" dirty="0"/>
          </a:p>
          <a:p>
            <a:endParaRPr lang="en-IN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62E0E4-CAD6-E6DA-F383-EC7454C93258}"/>
              </a:ext>
            </a:extLst>
          </p:cNvPr>
          <p:cNvSpPr txBox="1"/>
          <p:nvPr/>
        </p:nvSpPr>
        <p:spPr>
          <a:xfrm>
            <a:off x="0" y="6488648"/>
            <a:ext cx="9028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2AAC90-D07C-417D-96C6-81B39DB87062}" type="datetime1"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20-09-2026</a:t>
            </a:fld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84597-0F20-1DB7-E451-EEBD34FE5F5B}"/>
              </a:ext>
            </a:extLst>
          </p:cNvPr>
          <p:cNvSpPr txBox="1"/>
          <p:nvPr/>
        </p:nvSpPr>
        <p:spPr>
          <a:xfrm>
            <a:off x="5318449" y="6481688"/>
            <a:ext cx="151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  <a:p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86E49-67AD-ECD2-190A-011BB222E095}"/>
              </a:ext>
            </a:extLst>
          </p:cNvPr>
          <p:cNvSpPr txBox="1"/>
          <p:nvPr/>
        </p:nvSpPr>
        <p:spPr>
          <a:xfrm>
            <a:off x="11840222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A2490-BC96-2B2A-0997-5E7D33CF7BDC}"/>
              </a:ext>
            </a:extLst>
          </p:cNvPr>
          <p:cNvSpPr txBox="1"/>
          <p:nvPr/>
        </p:nvSpPr>
        <p:spPr>
          <a:xfrm>
            <a:off x="374341" y="2016952"/>
            <a:ext cx="59235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endParaRPr lang="en-IN" dirty="0"/>
          </a:p>
          <a:p>
            <a:r>
              <a:rPr lang="en-IN" b="1" dirty="0"/>
              <a:t>1. Programming &amp; Environment</a:t>
            </a:r>
          </a:p>
          <a:p>
            <a:r>
              <a:rPr lang="en-IN" dirty="0"/>
              <a:t>Python • Large Language Models</a:t>
            </a:r>
          </a:p>
          <a:p>
            <a:endParaRPr lang="en-IN" dirty="0"/>
          </a:p>
          <a:p>
            <a:r>
              <a:rPr lang="en-IN" b="1" dirty="0"/>
              <a:t>2. Retrieval &amp; Knowledge Base</a:t>
            </a:r>
          </a:p>
          <a:p>
            <a:r>
              <a:rPr lang="en-IN" dirty="0"/>
              <a:t>RAG • Privacy Knowledge Base • Evidence Retrieval</a:t>
            </a:r>
          </a:p>
          <a:p>
            <a:endParaRPr lang="en-IN" dirty="0"/>
          </a:p>
          <a:p>
            <a:r>
              <a:rPr lang="en-IN" b="1" dirty="0"/>
              <a:t>3. Multi-Agent System</a:t>
            </a:r>
          </a:p>
          <a:p>
            <a:r>
              <a:rPr lang="en-IN" dirty="0"/>
              <a:t>Heterogeneous LLM Agents • TCAM • Dynamic Routing</a:t>
            </a:r>
          </a:p>
          <a:p>
            <a:endParaRPr lang="en-IN" b="1" dirty="0"/>
          </a:p>
          <a:p>
            <a:r>
              <a:rPr lang="en-IN" b="1" dirty="0"/>
              <a:t>4. Evaluation &amp; Verification</a:t>
            </a:r>
          </a:p>
          <a:p>
            <a:r>
              <a:rPr lang="en-IN" dirty="0"/>
              <a:t>Voting • Weighted Aggregation • Consistency Verification</a:t>
            </a:r>
          </a:p>
          <a:p>
            <a:endParaRPr lang="en-IN" dirty="0"/>
          </a:p>
          <a:p>
            <a:r>
              <a:rPr lang="en-IN" b="1" dirty="0"/>
              <a:t>5. Report Generation</a:t>
            </a:r>
          </a:p>
          <a:p>
            <a:r>
              <a:rPr lang="en-IN" dirty="0"/>
              <a:t>Legal Provision Mapping • Automated Compliance Report</a:t>
            </a:r>
          </a:p>
          <a:p>
            <a:endParaRPr lang="en-IN" dirty="0"/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C113E-C2C0-15F6-37B5-B3325C54BE70}"/>
              </a:ext>
            </a:extLst>
          </p:cNvPr>
          <p:cNvSpPr txBox="1"/>
          <p:nvPr/>
        </p:nvSpPr>
        <p:spPr>
          <a:xfrm>
            <a:off x="6702428" y="5617937"/>
            <a:ext cx="5962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E8FEC-7F1B-83E1-C072-F3F88884C73F}"/>
              </a:ext>
            </a:extLst>
          </p:cNvPr>
          <p:cNvSpPr txBox="1"/>
          <p:nvPr/>
        </p:nvSpPr>
        <p:spPr>
          <a:xfrm>
            <a:off x="451405" y="1795167"/>
            <a:ext cx="276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Implementation Tech Stack</a:t>
            </a:r>
          </a:p>
        </p:txBody>
      </p:sp>
    </p:spTree>
    <p:extLst>
      <p:ext uri="{BB962C8B-B14F-4D97-AF65-F5344CB8AC3E}">
        <p14:creationId xmlns:p14="http://schemas.microsoft.com/office/powerpoint/2010/main" val="114664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20-09-2026</a:t>
            </a:fld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/>
              <a:t>Multi-AI Agent Oriented Privacy Policy Compliance Checking Based on Large Language Models in Mobile IoT Systems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/>
              <a:t>Yangyan</a:t>
            </a:r>
            <a:r>
              <a:rPr lang="en-IN" sz="1400" dirty="0"/>
              <a:t> Zeng et al., 2026 | IEEE Internet of Things Journal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AF843A-8264-73C7-7364-CC4BEC7DCB85}"/>
              </a:ext>
            </a:extLst>
          </p:cNvPr>
          <p:cNvSpPr txBox="1"/>
          <p:nvPr/>
        </p:nvSpPr>
        <p:spPr>
          <a:xfrm>
            <a:off x="285218" y="1823671"/>
            <a:ext cx="10758196" cy="3927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Dataset:</a:t>
            </a:r>
            <a:r>
              <a:rPr lang="en-IN" dirty="0"/>
              <a:t> </a:t>
            </a:r>
          </a:p>
          <a:p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100 Mobile IoT privacy policies.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Smart Monitoring: 27 policies.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Dashcam: 37 policies.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Smart Home: 36 policies.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Compliance Law: China’s Personal Information Protection Law (PIPL).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Compliance Indicators: 7 primary indicators and 40 secondary indicators.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Expert Validation: 5 domain experts.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Expert Consistency: Cohen’s Kappa &gt; 0.80.</a:t>
            </a:r>
          </a:p>
        </p:txBody>
      </p:sp>
    </p:spTree>
    <p:extLst>
      <p:ext uri="{BB962C8B-B14F-4D97-AF65-F5344CB8AC3E}">
        <p14:creationId xmlns:p14="http://schemas.microsoft.com/office/powerpoint/2010/main" val="387612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20-09-2026</a:t>
            </a:fld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/>
              <a:t>Multi-AI Agent Oriented Privacy Policy Compliance Checking Based on Large Language Models in Mobile IoT Systems      </a:t>
            </a:r>
            <a:r>
              <a:rPr lang="en-IN" sz="1400" dirty="0" err="1"/>
              <a:t>Yangyan</a:t>
            </a:r>
            <a:r>
              <a:rPr lang="en-IN" sz="1400" dirty="0"/>
              <a:t> Zeng et al., 2026 | IEEE Internet of Things Journal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7E5857-FE07-BC87-E2C1-84F92419F3B2}"/>
              </a:ext>
            </a:extLst>
          </p:cNvPr>
          <p:cNvSpPr txBox="1"/>
          <p:nvPr/>
        </p:nvSpPr>
        <p:spPr>
          <a:xfrm>
            <a:off x="135928" y="1974669"/>
            <a:ext cx="11443362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proposed system achieved an </a:t>
            </a:r>
            <a:r>
              <a:rPr lang="en-IN" b="1" dirty="0"/>
              <a:t>average accuracy of 90.3%</a:t>
            </a:r>
            <a:r>
              <a:rPr lang="en-IN" dirty="0"/>
              <a:t> in privacy-policy compliance checking.</a:t>
            </a:r>
          </a:p>
          <a:p>
            <a:pPr>
              <a:lnSpc>
                <a:spcPct val="150000"/>
              </a:lnSpc>
            </a:pPr>
            <a:r>
              <a:rPr lang="en-IN" dirty="0"/>
              <a:t>➢ It achieved a </a:t>
            </a:r>
            <a:r>
              <a:rPr lang="en-IN" b="1" dirty="0"/>
              <a:t>Macro-F1 score of 89.3%</a:t>
            </a:r>
            <a:r>
              <a:rPr lang="en-IN" dirty="0"/>
              <a:t>, showing consistent performance across different compliance indicators.</a:t>
            </a:r>
          </a:p>
          <a:p>
            <a:pPr>
              <a:lnSpc>
                <a:spcPct val="150000"/>
              </a:lnSpc>
            </a:pPr>
            <a:r>
              <a:rPr lang="en-IN" dirty="0"/>
              <a:t>➢ The system achieved a </a:t>
            </a:r>
            <a:r>
              <a:rPr lang="en-IN" b="1" dirty="0"/>
              <a:t>Cohen’s Kappa of 0.85</a:t>
            </a:r>
            <a:r>
              <a:rPr lang="en-IN" dirty="0"/>
              <a:t>, indicating strong agreement with expert evaluations.</a:t>
            </a:r>
          </a:p>
          <a:p>
            <a:pPr>
              <a:lnSpc>
                <a:spcPct val="150000"/>
              </a:lnSpc>
            </a:pPr>
            <a:r>
              <a:rPr lang="en-IN" dirty="0"/>
              <a:t>➢ The proposed approach improved auditing efficiency by approximately </a:t>
            </a:r>
            <a:r>
              <a:rPr lang="en-IN" b="1" dirty="0"/>
              <a:t>17× compared with manual review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➢ Under high-concurrency conditions, the system was able to process approximately </a:t>
            </a:r>
            <a:r>
              <a:rPr lang="en-IN" b="1" dirty="0"/>
              <a:t>82 privacy-policy documents per hour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➢ The results show that </a:t>
            </a:r>
            <a:r>
              <a:rPr lang="en-IN" b="1" dirty="0"/>
              <a:t>multi-agent reasoning with RAG can provide accurate, efficient, and evidence-based compliance checking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647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20-09-2026</a:t>
            </a:fld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4160" y="1950719"/>
            <a:ext cx="5699760" cy="44516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46800" y="1950719"/>
            <a:ext cx="5699760" cy="4451639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59202" y="190500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3386" y="190500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3386" y="1555172"/>
            <a:ext cx="1129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7660" y="1509671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/>
              <a:t>Multi-AI Agent Oriented Privacy Policy Compliance Checking Based on Large Language Models in Mobile IoT Systems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/>
              <a:t>Yangyan</a:t>
            </a:r>
            <a:r>
              <a:rPr lang="en-IN" sz="1400" dirty="0"/>
              <a:t> Zeng et al., 2026 | IEEE Internet of Things Journal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7E5857-FE07-BC87-E2C1-84F92419F3B2}"/>
              </a:ext>
            </a:extLst>
          </p:cNvPr>
          <p:cNvSpPr txBox="1"/>
          <p:nvPr/>
        </p:nvSpPr>
        <p:spPr>
          <a:xfrm>
            <a:off x="359819" y="1925984"/>
            <a:ext cx="546471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Multi-agent reasoning</a:t>
            </a:r>
            <a:r>
              <a:rPr lang="en-IN" dirty="0"/>
              <a:t> for complex compliance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RAG-based evidence retrieval</a:t>
            </a:r>
            <a:r>
              <a:rPr lang="en-IN" dirty="0"/>
              <a:t> improves traceability.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Dynamic routing</a:t>
            </a:r>
            <a:r>
              <a:rPr lang="en-IN" dirty="0"/>
              <a:t> selects evaluation based on task complexity.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Consistency verification</a:t>
            </a:r>
            <a:r>
              <a:rPr lang="en-IN" dirty="0"/>
              <a:t> handles conflicting agent results.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Automated compliance reports</a:t>
            </a:r>
            <a:r>
              <a:rPr lang="en-IN" dirty="0"/>
              <a:t> reduce manual effort.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0AD8D3-64C0-AC72-E880-7B95F5579E2C}"/>
              </a:ext>
            </a:extLst>
          </p:cNvPr>
          <p:cNvSpPr txBox="1"/>
          <p:nvPr/>
        </p:nvSpPr>
        <p:spPr>
          <a:xfrm>
            <a:off x="6371922" y="2195059"/>
            <a:ext cx="4982843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Focused mainly on </a:t>
            </a:r>
            <a:r>
              <a:rPr lang="en-IN" b="1" dirty="0"/>
              <a:t>Mobile IoT privacy policies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PIPL</a:t>
            </a:r>
            <a:r>
              <a:rPr lang="en-IN" dirty="0"/>
              <a:t>, not ISO/IEC 27001 or NIST.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Focuses on </a:t>
            </a:r>
            <a:r>
              <a:rPr lang="en-IN" b="1" dirty="0"/>
              <a:t>privacy-policy compliance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Does not directly test </a:t>
            </a:r>
            <a:r>
              <a:rPr lang="en-IN" b="1" dirty="0"/>
              <a:t>prompt injection or jailbreak attacks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Agents are </a:t>
            </a:r>
            <a:r>
              <a:rPr lang="en-IN" b="1" dirty="0"/>
              <a:t>task-specific LLM decision units</a:t>
            </a:r>
            <a:r>
              <a:rPr lang="en-IN" dirty="0"/>
              <a:t>.</a:t>
            </a:r>
          </a:p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58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495F5F-E462-D3DC-6376-30E0AD043663}"/>
              </a:ext>
            </a:extLst>
          </p:cNvPr>
          <p:cNvSpPr/>
          <p:nvPr/>
        </p:nvSpPr>
        <p:spPr>
          <a:xfrm>
            <a:off x="326571" y="1776481"/>
            <a:ext cx="10692882" cy="4371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20-09-2026</a:t>
            </a:fld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1290" y="886803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01 – </a:t>
            </a:r>
            <a:r>
              <a:rPr lang="en-IN" sz="1400" dirty="0"/>
              <a:t>Multi-AI Agent Oriented Privacy Policy Compliance Checking Based on Large Language Models in Mobile IoT Systems      </a:t>
            </a:r>
            <a:r>
              <a:rPr lang="en-IN" sz="1400" dirty="0" err="1"/>
              <a:t>Yangyan</a:t>
            </a:r>
            <a:r>
              <a:rPr lang="en-IN" sz="1400" dirty="0"/>
              <a:t> Zeng et al., 2026 | IEEE Internet of Things Journal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7D6219-856E-9BFC-D172-CD982B1B99C0}"/>
              </a:ext>
            </a:extLst>
          </p:cNvPr>
          <p:cNvSpPr txBox="1"/>
          <p:nvPr/>
        </p:nvSpPr>
        <p:spPr>
          <a:xfrm>
            <a:off x="353019" y="1776481"/>
            <a:ext cx="10978595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Provides a foundation for </a:t>
            </a:r>
            <a:r>
              <a:rPr lang="en-IN" b="1" dirty="0"/>
              <a:t>multi-agent compliance auditing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➢ Shows how RAG + evidence retrieval can support compliance decisions.</a:t>
            </a:r>
          </a:p>
          <a:p>
            <a:pPr>
              <a:lnSpc>
                <a:spcPct val="150000"/>
              </a:lnSpc>
            </a:pPr>
            <a:r>
              <a:rPr lang="en-IN" dirty="0"/>
              <a:t>➢ Dynamic routing can be applied for adaptive agent selection.</a:t>
            </a:r>
          </a:p>
          <a:p>
            <a:pPr>
              <a:lnSpc>
                <a:spcPct val="150000"/>
              </a:lnSpc>
            </a:pPr>
            <a:r>
              <a:rPr lang="en-IN" dirty="0"/>
              <a:t>➢ Consistency verification supports the use of Debate and Judge agents.</a:t>
            </a:r>
          </a:p>
          <a:p>
            <a:pPr>
              <a:lnSpc>
                <a:spcPct val="150000"/>
              </a:lnSpc>
            </a:pPr>
            <a:r>
              <a:rPr lang="en-IN" dirty="0"/>
              <a:t>➢ Automated reporting supports our Report Agent.</a:t>
            </a:r>
          </a:p>
          <a:p>
            <a:pPr>
              <a:lnSpc>
                <a:spcPct val="150000"/>
              </a:lnSpc>
            </a:pPr>
            <a:r>
              <a:rPr lang="en-IN" dirty="0"/>
              <a:t>➢ Our research extends this approach from IoT privacy compliance to Enterprise AI/LLM Security and Compliance.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Reference Paper:      </a:t>
            </a:r>
            <a:r>
              <a:rPr lang="en-IN" dirty="0"/>
              <a:t>IoT Privacy Policy → PIPL Compliance → RAG → Multi-Agent Evaluation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My Research:</a:t>
            </a:r>
            <a:br>
              <a:rPr lang="en-IN" dirty="0"/>
            </a:br>
            <a:r>
              <a:rPr lang="en-IN" dirty="0"/>
              <a:t>Enterprise Controls → ISO/NIST → RAG → Multi-Agent Compliance Audit → Red Team → Blue Team → Judge → Risk &amp; Security Analysis</a:t>
            </a:r>
          </a:p>
        </p:txBody>
      </p:sp>
    </p:spTree>
    <p:extLst>
      <p:ext uri="{BB962C8B-B14F-4D97-AF65-F5344CB8AC3E}">
        <p14:creationId xmlns:p14="http://schemas.microsoft.com/office/powerpoint/2010/main" val="121859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23D7C980-BC28-7875-307C-D41EF10785C7}"/>
              </a:ext>
            </a:extLst>
          </p:cNvPr>
          <p:cNvSpPr/>
          <p:nvPr/>
        </p:nvSpPr>
        <p:spPr>
          <a:xfrm>
            <a:off x="104186" y="1919210"/>
            <a:ext cx="6514522" cy="4174617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20-09-2026</a:t>
            </a:fld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02 –</a:t>
            </a:r>
            <a:r>
              <a:rPr lang="en-IN" sz="1400" dirty="0"/>
              <a:t> </a:t>
            </a:r>
            <a:r>
              <a:rPr lang="en-IN" sz="1400" dirty="0" err="1"/>
              <a:t>DataSentinel</a:t>
            </a:r>
            <a:r>
              <a:rPr lang="en-IN" sz="1400" dirty="0"/>
              <a:t>: A Game-Theoretic Detection of Prompt Injection Attacks</a:t>
            </a:r>
          </a:p>
          <a:p>
            <a:pPr latinLnBrk="1"/>
            <a:r>
              <a:rPr lang="en-IN" sz="1400" dirty="0"/>
              <a:t>Y. Liu, Y. Jia, J. Jia, D. Song, and N. Z. Gon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06987-E7FC-654C-B96A-3E2A76DC8049}"/>
              </a:ext>
            </a:extLst>
          </p:cNvPr>
          <p:cNvSpPr txBox="1"/>
          <p:nvPr/>
        </p:nvSpPr>
        <p:spPr>
          <a:xfrm>
            <a:off x="222181" y="2349918"/>
            <a:ext cx="63965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Introduces </a:t>
            </a:r>
            <a:r>
              <a:rPr lang="en-IN" b="1" dirty="0" err="1"/>
              <a:t>DataSentinel</a:t>
            </a:r>
            <a:r>
              <a:rPr lang="en-IN" dirty="0"/>
              <a:t>, a game-theoretic method for detecting prompt injection attacks.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Uses a </a:t>
            </a:r>
            <a:r>
              <a:rPr lang="en-IN" b="1" dirty="0"/>
              <a:t>fine-tuned LLM</a:t>
            </a:r>
            <a:r>
              <a:rPr lang="en-IN" dirty="0"/>
              <a:t> as a detection model to identify contaminated inputs.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 Models the attacker and detector as a </a:t>
            </a:r>
            <a:r>
              <a:rPr lang="en-IN" b="1" dirty="0"/>
              <a:t>minimax optimization problem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</a:t>
            </a:r>
            <a:r>
              <a:rPr lang="en-IN" b="1" dirty="0"/>
              <a:t>inner maximization</a:t>
            </a:r>
            <a:r>
              <a:rPr lang="en-IN" dirty="0"/>
              <a:t> generates adaptive prompt injections that try to evade detection.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</a:t>
            </a:r>
            <a:r>
              <a:rPr lang="en-IN" b="1" dirty="0"/>
              <a:t>outer minimization</a:t>
            </a:r>
            <a:r>
              <a:rPr lang="en-IN" dirty="0"/>
              <a:t> fine-tunes the detection LLM to identify these adaptive attacks.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Uses a </a:t>
            </a:r>
            <a:r>
              <a:rPr lang="en-IN" b="1" dirty="0"/>
              <a:t>gradient-based optimization method</a:t>
            </a:r>
            <a:r>
              <a:rPr lang="en-IN" dirty="0"/>
              <a:t> by alternating between the inner and outer problems.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8DAEC-CCDD-6AA0-57D1-FF9BF45DAE61}"/>
              </a:ext>
            </a:extLst>
          </p:cNvPr>
          <p:cNvSpPr txBox="1"/>
          <p:nvPr/>
        </p:nvSpPr>
        <p:spPr>
          <a:xfrm>
            <a:off x="7021714" y="6093827"/>
            <a:ext cx="3211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Fig. 2 . Overall framework of </a:t>
            </a:r>
            <a:r>
              <a:rPr lang="en-IN" sz="1400" dirty="0" err="1"/>
              <a:t>DataSentinel</a:t>
            </a:r>
            <a:endParaRPr lang="en-IN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5BB9E9-1947-69DF-8FE5-4A6A99802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708" y="1665055"/>
            <a:ext cx="5245343" cy="437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1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E270-0D92-CA71-6210-A4A3F442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4707B0-0BAF-B214-5CE0-015E8847670A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1C61270-A0BC-7F4A-46A1-863054A28D3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20-09-2026</a:t>
            </a:fld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821501F-23BF-E88D-DE60-1E20872A65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C19340-6BDC-A5FD-1101-BF045EE2AB16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CF05BD-B7C8-1C36-2AF0-E022A3F29694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4D9F9-83CD-2FE9-CCA6-FBC1C85EF7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2C22EB-5097-8C48-40D7-0DA25927BD5F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101051B-2CBB-8358-9CF3-6AD5328F94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64EBD-8ADB-D11D-6CA1-51AE38B040B4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FB8D0-DAE6-A3A7-6D0E-E27100B41726}"/>
              </a:ext>
            </a:extLst>
          </p:cNvPr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02 –</a:t>
            </a:r>
            <a:r>
              <a:rPr lang="en-IN" sz="1400" dirty="0"/>
              <a:t> </a:t>
            </a:r>
            <a:r>
              <a:rPr lang="en-IN" sz="1400" dirty="0" err="1"/>
              <a:t>DataSentinel</a:t>
            </a:r>
            <a:r>
              <a:rPr lang="en-IN" sz="1400" dirty="0"/>
              <a:t>: A Game-Theoretic Detection of Prompt Injection Attacks</a:t>
            </a:r>
          </a:p>
          <a:p>
            <a:pPr latinLnBrk="1"/>
            <a:r>
              <a:rPr lang="en-IN" sz="1400" dirty="0"/>
              <a:t>Y. Liu, Y. Jia, J. Jia, D. Song, and N. Z. Gon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B212CE-9AAE-577D-9814-787A5D494F6A}"/>
              </a:ext>
            </a:extLst>
          </p:cNvPr>
          <p:cNvSpPr txBox="1"/>
          <p:nvPr/>
        </p:nvSpPr>
        <p:spPr>
          <a:xfrm>
            <a:off x="498987" y="1541329"/>
            <a:ext cx="3004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Implementation </a:t>
            </a:r>
            <a:r>
              <a:rPr lang="en-IN" sz="2000" b="1" dirty="0" err="1"/>
              <a:t>TechStack</a:t>
            </a:r>
            <a:endParaRPr lang="en-IN" sz="2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42108C-68F3-F455-5CA1-491EBEB73B8E}"/>
              </a:ext>
            </a:extLst>
          </p:cNvPr>
          <p:cNvSpPr txBox="1"/>
          <p:nvPr/>
        </p:nvSpPr>
        <p:spPr>
          <a:xfrm>
            <a:off x="352319" y="1879883"/>
            <a:ext cx="8085625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1. Programming &amp; Environment</a:t>
            </a:r>
          </a:p>
          <a:p>
            <a:pPr>
              <a:lnSpc>
                <a:spcPct val="150000"/>
              </a:lnSpc>
            </a:pPr>
            <a:r>
              <a:rPr lang="en-IN" dirty="0"/>
              <a:t>Python • </a:t>
            </a:r>
            <a:r>
              <a:rPr lang="en-IN" dirty="0" err="1"/>
              <a:t>PyTorch</a:t>
            </a:r>
            <a:r>
              <a:rPr lang="en-IN" dirty="0"/>
              <a:t> • GPU-based Fine-tuning</a:t>
            </a:r>
          </a:p>
          <a:p>
            <a:pPr>
              <a:lnSpc>
                <a:spcPct val="150000"/>
              </a:lnSpc>
            </a:pPr>
            <a:r>
              <a:rPr lang="en-IN" b="1" dirty="0"/>
              <a:t>2. Detection Model</a:t>
            </a:r>
          </a:p>
          <a:p>
            <a:pPr>
              <a:lnSpc>
                <a:spcPct val="150000"/>
              </a:lnSpc>
            </a:pPr>
            <a:r>
              <a:rPr lang="en-IN" dirty="0"/>
              <a:t>LLaMA3-8B-Instruct • Mistral-7B • LLaMA2-7B</a:t>
            </a:r>
          </a:p>
          <a:p>
            <a:pPr>
              <a:lnSpc>
                <a:spcPct val="150000"/>
              </a:lnSpc>
            </a:pPr>
            <a:r>
              <a:rPr lang="en-IN" b="1" dirty="0"/>
              <a:t>3. Prompt Injection Detection</a:t>
            </a:r>
          </a:p>
          <a:p>
            <a:pPr>
              <a:lnSpc>
                <a:spcPct val="150000"/>
              </a:lnSpc>
            </a:pPr>
            <a:r>
              <a:rPr lang="en-IN" dirty="0"/>
              <a:t>Known-Answer Detection • Detection Instruction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4. Game-Theoretic Optimization</a:t>
            </a:r>
          </a:p>
          <a:p>
            <a:pPr>
              <a:lnSpc>
                <a:spcPct val="150000"/>
              </a:lnSpc>
            </a:pPr>
            <a:r>
              <a:rPr lang="en-IN" dirty="0"/>
              <a:t>Minimax Optimization • Gradient-Based Optimization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5. Evaluation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FPR • FNR • Adaptive Attack Evaluation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Code &amp; Data:</a:t>
            </a:r>
            <a:r>
              <a:rPr lang="en-IN" dirty="0"/>
              <a:t> Open-Prompt-Injection repository.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398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0" y="20385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11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02 –</a:t>
            </a:r>
            <a:r>
              <a:rPr lang="en-IN" sz="1400" dirty="0"/>
              <a:t> </a:t>
            </a:r>
            <a:r>
              <a:rPr lang="en-IN" sz="1400" dirty="0" err="1"/>
              <a:t>DataSentinel</a:t>
            </a:r>
            <a:r>
              <a:rPr lang="en-IN" sz="1400" dirty="0"/>
              <a:t>: A Game-Theoretic Detection of Prompt Injection Attacks</a:t>
            </a:r>
          </a:p>
          <a:p>
            <a:pPr latinLnBrk="1"/>
            <a:r>
              <a:rPr lang="en-IN" sz="1400" dirty="0"/>
              <a:t>Y. Liu, Y. Jia, J. Jia, D. Song, and N. Z. Gon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2E23A-E1F5-21FA-E686-35EA259AAF83}"/>
              </a:ext>
            </a:extLst>
          </p:cNvPr>
          <p:cNvSpPr txBox="1"/>
          <p:nvPr/>
        </p:nvSpPr>
        <p:spPr>
          <a:xfrm>
            <a:off x="249683" y="2038521"/>
            <a:ext cx="9798644" cy="3371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evaluation covers </a:t>
            </a:r>
            <a:r>
              <a:rPr lang="en-IN" b="1" dirty="0"/>
              <a:t>7 target tasks</a:t>
            </a:r>
            <a:r>
              <a:rPr lang="en-IN" dirty="0"/>
              <a:t> and </a:t>
            </a:r>
            <a:r>
              <a:rPr lang="en-IN" b="1" dirty="0"/>
              <a:t>9 injected tasks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experiments use </a:t>
            </a:r>
            <a:r>
              <a:rPr lang="en-IN" b="1" dirty="0"/>
              <a:t>6 different LLMs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system is evaluated against </a:t>
            </a:r>
            <a:r>
              <a:rPr lang="en-IN" b="1" dirty="0"/>
              <a:t>9 existing prompt injection attacks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It also evaluates </a:t>
            </a:r>
            <a:r>
              <a:rPr lang="en-IN" b="1" dirty="0"/>
              <a:t>3 adaptive prompt injection attacks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experiments contain </a:t>
            </a:r>
            <a:r>
              <a:rPr lang="en-IN" b="1" dirty="0"/>
              <a:t>35,700 contaminated target-data samples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FPR (False Positive Rate)</a:t>
            </a:r>
            <a:r>
              <a:rPr lang="en-IN" dirty="0"/>
              <a:t> is used to measure clean inputs incorrectly detected as contaminated.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FNR (False Negative Rate)</a:t>
            </a:r>
            <a:r>
              <a:rPr lang="en-IN" dirty="0"/>
              <a:t> is used to measure contaminated inputs incorrectly detected as clean.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/>
              <a:t>DataSentinel</a:t>
            </a:r>
            <a:r>
              <a:rPr lang="en-IN" dirty="0"/>
              <a:t> is compared with </a:t>
            </a:r>
            <a:r>
              <a:rPr lang="en-IN" b="1" dirty="0"/>
              <a:t>6 baseline detection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910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12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02 –</a:t>
            </a:r>
            <a:r>
              <a:rPr lang="en-IN" sz="1400" dirty="0"/>
              <a:t> </a:t>
            </a:r>
            <a:r>
              <a:rPr lang="en-IN" sz="1400" dirty="0" err="1"/>
              <a:t>DataSentinel</a:t>
            </a:r>
            <a:r>
              <a:rPr lang="en-IN" sz="1400" dirty="0"/>
              <a:t>: A Game-Theoretic Detection of Prompt Injection Attacks</a:t>
            </a:r>
          </a:p>
          <a:p>
            <a:pPr latinLnBrk="1"/>
            <a:r>
              <a:rPr lang="en-IN" sz="1400" dirty="0"/>
              <a:t>Y. Liu, Y. Jia, J. Jia, D. Song, and N. Z. Gon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14A06-F78D-312A-DD05-17076CD351A7}"/>
              </a:ext>
            </a:extLst>
          </p:cNvPr>
          <p:cNvSpPr txBox="1"/>
          <p:nvPr/>
        </p:nvSpPr>
        <p:spPr>
          <a:xfrm>
            <a:off x="364259" y="1974905"/>
            <a:ext cx="10981765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/>
              <a:t>DataSentinel</a:t>
            </a:r>
            <a:r>
              <a:rPr lang="en-IN" dirty="0"/>
              <a:t> achieved </a:t>
            </a:r>
            <a:r>
              <a:rPr lang="en-IN" b="1" dirty="0"/>
              <a:t>FPR close to 0</a:t>
            </a:r>
            <a:r>
              <a:rPr lang="en-IN" dirty="0"/>
              <a:t> across the experiments, indicating very few false alarms.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Its </a:t>
            </a:r>
            <a:r>
              <a:rPr lang="en-IN" b="1" dirty="0"/>
              <a:t>FNR was no larger than 0.07</a:t>
            </a:r>
            <a:r>
              <a:rPr lang="en-IN" dirty="0"/>
              <a:t> across the evaluated prompt injection attacks.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/>
              <a:t>DataSentinel</a:t>
            </a:r>
            <a:r>
              <a:rPr lang="en-IN" dirty="0"/>
              <a:t> consistently detected both </a:t>
            </a:r>
            <a:r>
              <a:rPr lang="en-IN" b="1" dirty="0"/>
              <a:t>heuristic-based and optimization-based prompt injection attacks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Compared with baseline detection methods, </a:t>
            </a:r>
            <a:r>
              <a:rPr lang="en-IN" dirty="0" err="1"/>
              <a:t>DataSentinel</a:t>
            </a:r>
            <a:r>
              <a:rPr lang="en-IN" dirty="0"/>
              <a:t> achieved </a:t>
            </a:r>
            <a:r>
              <a:rPr lang="en-IN" b="1" dirty="0"/>
              <a:t>lower FPR and FNR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Against adaptive attacks, the </a:t>
            </a:r>
            <a:r>
              <a:rPr lang="en-IN" b="1" dirty="0"/>
              <a:t>minimax version performed better</a:t>
            </a:r>
            <a:r>
              <a:rPr lang="en-IN" dirty="0"/>
              <a:t> than standard Known-Answer Detection and the non-adaptive variant.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Using a smaller </a:t>
            </a:r>
            <a:r>
              <a:rPr lang="en-IN" b="1" dirty="0"/>
              <a:t>LLaMA3.2-1B-Instruct detection model</a:t>
            </a:r>
            <a:r>
              <a:rPr lang="en-IN" dirty="0"/>
              <a:t> achieved an average </a:t>
            </a:r>
            <a:r>
              <a:rPr lang="en-IN" b="1" dirty="0"/>
              <a:t>FPR of 0.00 and FNR of 0.01</a:t>
            </a:r>
            <a:r>
              <a:rPr lang="en-IN" dirty="0"/>
              <a:t> in the reported </a:t>
            </a:r>
            <a:r>
              <a:rPr lang="en-IN" dirty="0" err="1"/>
              <a:t>experimen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75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13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02 –</a:t>
            </a:r>
            <a:r>
              <a:rPr lang="en-IN" sz="1400" dirty="0"/>
              <a:t> </a:t>
            </a:r>
            <a:r>
              <a:rPr lang="en-IN" sz="1400" dirty="0" err="1"/>
              <a:t>DataSentinel</a:t>
            </a:r>
            <a:r>
              <a:rPr lang="en-IN" sz="1400" dirty="0"/>
              <a:t>: A Game-Theoretic Detection of Prompt Injection Attacks</a:t>
            </a:r>
          </a:p>
          <a:p>
            <a:pPr latinLnBrk="1"/>
            <a:r>
              <a:rPr lang="en-IN" sz="1400" dirty="0"/>
              <a:t>Y. Liu, Y. Jia, J. Jia, D. Song, and N. Z. Gon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786" y="2182377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ounded Rectangle 17"/>
          <p:cNvSpPr/>
          <p:nvPr/>
        </p:nvSpPr>
        <p:spPr>
          <a:xfrm>
            <a:off x="6146801" y="221094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60D0C-BE20-1C83-6364-03753855832B}"/>
              </a:ext>
            </a:extLst>
          </p:cNvPr>
          <p:cNvSpPr txBox="1"/>
          <p:nvPr/>
        </p:nvSpPr>
        <p:spPr>
          <a:xfrm>
            <a:off x="291787" y="2168344"/>
            <a:ext cx="57534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game-theoretic minimax optimization</a:t>
            </a:r>
            <a:r>
              <a:rPr lang="en-IN" dirty="0"/>
              <a:t> to consider adaptive attacks.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Fine-tunes a dedicated </a:t>
            </a:r>
            <a:r>
              <a:rPr lang="en-IN" b="1" dirty="0"/>
              <a:t>detection LLM</a:t>
            </a:r>
            <a:r>
              <a:rPr lang="en-IN" dirty="0"/>
              <a:t> for prompt injection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Achieves </a:t>
            </a:r>
            <a:r>
              <a:rPr lang="en-IN" b="1" dirty="0"/>
              <a:t>low false-positive and false-negative rates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Evaluates multiple </a:t>
            </a:r>
            <a:r>
              <a:rPr lang="en-IN" b="1" dirty="0"/>
              <a:t>attacks, tasks and LLMs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Remains effective against several </a:t>
            </a:r>
            <a:r>
              <a:rPr lang="en-IN" b="1" dirty="0"/>
              <a:t>adaptive prompt injection attacks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E10B6-50A1-26B5-EF93-06EEF0C9970B}"/>
              </a:ext>
            </a:extLst>
          </p:cNvPr>
          <p:cNvSpPr txBox="1"/>
          <p:nvPr/>
        </p:nvSpPr>
        <p:spPr>
          <a:xfrm>
            <a:off x="6259203" y="2378321"/>
            <a:ext cx="56980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Fine-tuning requires </a:t>
            </a:r>
            <a:r>
              <a:rPr lang="en-IN" b="1" dirty="0"/>
              <a:t>computational resources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minimax optimization requires </a:t>
            </a:r>
            <a:r>
              <a:rPr lang="en-IN" b="1" dirty="0"/>
              <a:t>white-box access to a backend LLM</a:t>
            </a:r>
            <a:r>
              <a:rPr lang="en-IN" dirty="0"/>
              <a:t> during fine-tuning in the default setup.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Detection performance can depend on the </a:t>
            </a:r>
            <a:r>
              <a:rPr lang="en-IN" b="1" dirty="0"/>
              <a:t>backend LLM and attack characteristics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paper notes that stronger instruction-following LLMs may make </a:t>
            </a:r>
            <a:r>
              <a:rPr lang="en-IN" b="1" dirty="0"/>
              <a:t>adaptive attacks more difficult to detect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889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AA3EDD-7C73-24A7-1965-7B17FEC147EE}"/>
              </a:ext>
            </a:extLst>
          </p:cNvPr>
          <p:cNvSpPr/>
          <p:nvPr/>
        </p:nvSpPr>
        <p:spPr>
          <a:xfrm>
            <a:off x="295274" y="1869469"/>
            <a:ext cx="11308702" cy="4211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14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097804" y="15425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02 –</a:t>
            </a:r>
            <a:r>
              <a:rPr lang="en-IN" sz="1400" dirty="0"/>
              <a:t> </a:t>
            </a:r>
            <a:r>
              <a:rPr lang="en-IN" sz="1400" dirty="0" err="1"/>
              <a:t>DataSentinel</a:t>
            </a:r>
            <a:r>
              <a:rPr lang="en-IN" sz="1400" dirty="0"/>
              <a:t>: A Game-Theoretic Detection of Prompt Injection Attacks</a:t>
            </a:r>
          </a:p>
          <a:p>
            <a:pPr latinLnBrk="1"/>
            <a:r>
              <a:rPr lang="en-IN" sz="1400" dirty="0"/>
              <a:t>Y. Liu, Y. Jia, J. Jia, D. Song, and N. Z. Gon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A6190-299C-DE13-9F22-DCC22BBA15FD}"/>
              </a:ext>
            </a:extLst>
          </p:cNvPr>
          <p:cNvSpPr txBox="1"/>
          <p:nvPr/>
        </p:nvSpPr>
        <p:spPr>
          <a:xfrm>
            <a:off x="345426" y="1974669"/>
            <a:ext cx="11208399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Provides a foundation for </a:t>
            </a:r>
            <a:r>
              <a:rPr lang="en-IN" b="1" dirty="0"/>
              <a:t>AI security validation against prompt injection attacks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Shows how </a:t>
            </a:r>
            <a:r>
              <a:rPr lang="en-IN" b="1" dirty="0"/>
              <a:t>adaptive attackers and defensive detectors</a:t>
            </a:r>
            <a:r>
              <a:rPr lang="en-IN" dirty="0"/>
              <a:t> can be </a:t>
            </a:r>
            <a:r>
              <a:rPr lang="en-IN" dirty="0" err="1"/>
              <a:t>modeled</a:t>
            </a:r>
            <a:r>
              <a:rPr lang="en-IN" dirty="0"/>
              <a:t> using game theory.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</a:t>
            </a:r>
            <a:r>
              <a:rPr lang="en-IN" b="1" dirty="0"/>
              <a:t>inner attacker–outer defender</a:t>
            </a:r>
            <a:r>
              <a:rPr lang="en-IN" dirty="0"/>
              <a:t> setup can inspire our </a:t>
            </a:r>
            <a:r>
              <a:rPr lang="en-IN" b="1" dirty="0"/>
              <a:t>Red Team and Blue Team</a:t>
            </a:r>
            <a:r>
              <a:rPr lang="en-IN" dirty="0"/>
              <a:t> interaction.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Its detection approach can support our </a:t>
            </a:r>
            <a:r>
              <a:rPr lang="en-IN" b="1" dirty="0"/>
              <a:t>AI Security Validation Agent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evaluation using </a:t>
            </a:r>
            <a:r>
              <a:rPr lang="en-IN" b="1" dirty="0"/>
              <a:t>FPR and FNR</a:t>
            </a:r>
            <a:r>
              <a:rPr lang="en-IN" dirty="0"/>
              <a:t> can be used for measuring our security-validation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Our research extends this concept by combining </a:t>
            </a:r>
            <a:r>
              <a:rPr lang="en-IN" b="1" dirty="0"/>
              <a:t>prompt-injection detection with compliance auditing, Red Team–Blue Team–Judge agents, risk analysis, forecasting and roadmap generation</a:t>
            </a:r>
            <a:r>
              <a:rPr lang="en-IN" dirty="0"/>
              <a:t>. 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2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8AB97FCB-46B6-E1AA-5028-426B9EF98E42}"/>
              </a:ext>
            </a:extLst>
          </p:cNvPr>
          <p:cNvSpPr/>
          <p:nvPr/>
        </p:nvSpPr>
        <p:spPr>
          <a:xfrm>
            <a:off x="219767" y="1782912"/>
            <a:ext cx="11752466" cy="2349250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15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88492" y="1334190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03 –</a:t>
            </a:r>
            <a:r>
              <a:rPr lang="en-IN" sz="1400" dirty="0"/>
              <a:t> Secure Prompt Engineering Patterns for Cloud LLM Agents</a:t>
            </a:r>
          </a:p>
          <a:p>
            <a:r>
              <a:rPr lang="en-IN" sz="1400" dirty="0"/>
              <a:t>Shalini Sudarsan, Advait Patel, Charit Upadhyay, Vaishnavi </a:t>
            </a:r>
            <a:r>
              <a:rPr lang="en-IN" sz="1400" dirty="0" err="1"/>
              <a:t>Gudur</a:t>
            </a:r>
            <a:r>
              <a:rPr lang="en-IN" sz="1400" dirty="0"/>
              <a:t>, Prashanthi Matam  </a:t>
            </a:r>
            <a:r>
              <a:rPr lang="en-IN" sz="1400" b="1" dirty="0"/>
              <a:t>Year:</a:t>
            </a:r>
            <a:r>
              <a:rPr lang="en-IN" sz="1400" dirty="0"/>
              <a:t> 2026 | </a:t>
            </a:r>
            <a:r>
              <a:rPr lang="en-IN" sz="1400" b="1" dirty="0"/>
              <a:t>Conference:</a:t>
            </a:r>
            <a:r>
              <a:rPr lang="en-IN" sz="1400" dirty="0"/>
              <a:t> IEEE ICAIC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A4C22-1198-3935-8C03-0F11BE2E2B98}"/>
              </a:ext>
            </a:extLst>
          </p:cNvPr>
          <p:cNvSpPr txBox="1"/>
          <p:nvPr/>
        </p:nvSpPr>
        <p:spPr>
          <a:xfrm>
            <a:off x="287554" y="1916358"/>
            <a:ext cx="118159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Proposes </a:t>
            </a:r>
            <a:r>
              <a:rPr lang="en-IN" b="1" dirty="0"/>
              <a:t>Secure Prompt Engineering Patterns (SPEP)</a:t>
            </a:r>
            <a:r>
              <a:rPr lang="en-IN" dirty="0"/>
              <a:t> for cloud-integrated LLM agents.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Defines a threat taxonomy covering </a:t>
            </a:r>
            <a:r>
              <a:rPr lang="en-IN" b="1" dirty="0"/>
              <a:t>direct, indirect, and multi-stage prompt injection attacks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Introduces reusable security patterns for </a:t>
            </a:r>
            <a:r>
              <a:rPr lang="en-IN" b="1" dirty="0"/>
              <a:t>input sanitization, instruction-data separation, multi-agent consensus, output confinement, execution confirmation, and capability restriction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Uses </a:t>
            </a:r>
            <a:r>
              <a:rPr lang="en-IN" b="1" dirty="0" err="1"/>
              <a:t>defense</a:t>
            </a:r>
            <a:r>
              <a:rPr lang="en-IN" b="1" dirty="0"/>
              <a:t>-in-depth</a:t>
            </a:r>
            <a:r>
              <a:rPr lang="en-IN" dirty="0"/>
              <a:t> to protect LLM agents before they perform cloud API actions.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Evaluates SPEP across </a:t>
            </a:r>
            <a:r>
              <a:rPr lang="en-IN" b="1" dirty="0"/>
              <a:t>AWS, GCP, and Azure</a:t>
            </a:r>
            <a:r>
              <a:rPr lang="en-IN" dirty="0"/>
              <a:t> using more than </a:t>
            </a:r>
            <a:r>
              <a:rPr lang="en-IN" b="1" dirty="0"/>
              <a:t>200 adversarial prompts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Prompt/Input → Threat Detection → Security Patterns → Validation/Confirmation → Cloud API Action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45567F-A47B-F995-948A-468AAE25E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81" y="4242330"/>
            <a:ext cx="11752465" cy="216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96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44F5D-EAA0-6227-B3C9-7FC39544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1E1356-668A-5EBA-7400-0CB95BF90EC7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EE41226-C487-CBC1-34EA-7DD035CF70E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547C3C3-1D7F-376A-DD5E-0CE5A6ABAC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16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6C2BF9-66FE-61FA-C00D-B5E66B455B3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128A2-8173-A729-2E67-48D18E457461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D54F80-9F92-23E1-34B7-242850055C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DB827B-5477-E85A-8B5C-FE6241F46EFC}"/>
              </a:ext>
            </a:extLst>
          </p:cNvPr>
          <p:cNvSpPr txBox="1"/>
          <p:nvPr/>
        </p:nvSpPr>
        <p:spPr>
          <a:xfrm>
            <a:off x="1167832" y="163515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14EC97CB-C156-210A-627B-38D2C5C69A5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48EE25-5BC3-1B8C-2DF0-CC31466267B0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CE575-00D8-ACBD-D3E2-6ACC0BFFC48E}"/>
              </a:ext>
            </a:extLst>
          </p:cNvPr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03 –</a:t>
            </a:r>
            <a:r>
              <a:rPr lang="en-IN" sz="1400" dirty="0"/>
              <a:t> Secure Prompt Engineering Patterns for Cloud LLM Agents</a:t>
            </a:r>
          </a:p>
          <a:p>
            <a:r>
              <a:rPr lang="en-IN" sz="1400" dirty="0"/>
              <a:t>Shalini Sudarsan, Advait Patel, Charit Upadhyay, Vaishnavi </a:t>
            </a:r>
            <a:r>
              <a:rPr lang="en-IN" sz="1400" dirty="0" err="1"/>
              <a:t>Gudur</a:t>
            </a:r>
            <a:r>
              <a:rPr lang="en-IN" sz="1400" dirty="0"/>
              <a:t>, Prashanthi Matam  </a:t>
            </a:r>
            <a:r>
              <a:rPr lang="en-IN" sz="1400" b="1" dirty="0"/>
              <a:t>Year:</a:t>
            </a:r>
            <a:r>
              <a:rPr lang="en-IN" sz="1400" dirty="0"/>
              <a:t> 2026 | </a:t>
            </a:r>
            <a:r>
              <a:rPr lang="en-IN" sz="1400" b="1" dirty="0"/>
              <a:t>Conference:</a:t>
            </a:r>
            <a:r>
              <a:rPr lang="en-IN" sz="1400" dirty="0"/>
              <a:t> IEEE ICAIC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4B2DA-6A78-4A55-3982-21782574248B}"/>
              </a:ext>
            </a:extLst>
          </p:cNvPr>
          <p:cNvSpPr txBox="1"/>
          <p:nvPr/>
        </p:nvSpPr>
        <p:spPr>
          <a:xfrm>
            <a:off x="197440" y="1708408"/>
            <a:ext cx="3062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Implementation Tech Stack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4F8CD7-372C-FD5B-6A1B-CBD615DC9492}"/>
              </a:ext>
            </a:extLst>
          </p:cNvPr>
          <p:cNvSpPr txBox="1"/>
          <p:nvPr/>
        </p:nvSpPr>
        <p:spPr>
          <a:xfrm>
            <a:off x="369173" y="2108518"/>
            <a:ext cx="516045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1. Programming &amp; Environment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Python-based implementation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Cloud testbeds: </a:t>
            </a:r>
            <a:r>
              <a:rPr lang="en-IN" b="1" dirty="0"/>
              <a:t>AWS, GCP, Azure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Controlled projects with access rights and logging </a:t>
            </a:r>
          </a:p>
          <a:p>
            <a:r>
              <a:rPr lang="en-IN" b="1" dirty="0"/>
              <a:t>2. LLM &amp; Agent Framework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GPT-4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Anthropic Claude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Google Gemini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LangChain</a:t>
            </a:r>
            <a:r>
              <a:rPr lang="en-IN" dirty="0"/>
              <a:t> and Semantic Kernel </a:t>
            </a:r>
          </a:p>
          <a:p>
            <a:r>
              <a:rPr lang="en-IN" b="1" dirty="0"/>
              <a:t>3. Security Patterns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Input Sanitization Filters (ISF)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Role &amp; Context Separation (RCS)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Execution Confirmation (ECF)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Capability Restriction (CAR)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Chain-of-Thought Isolation (CTI)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BE56CF-AF0B-D9CF-3C11-160273033373}"/>
              </a:ext>
            </a:extLst>
          </p:cNvPr>
          <p:cNvSpPr txBox="1"/>
          <p:nvPr/>
        </p:nvSpPr>
        <p:spPr>
          <a:xfrm>
            <a:off x="6904760" y="2035220"/>
            <a:ext cx="3755524" cy="351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4Prompt Injection </a:t>
            </a:r>
            <a:r>
              <a:rPr lang="en-IN" b="1" dirty="0" err="1"/>
              <a:t>Defense</a:t>
            </a:r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Direct &amp; indirect injection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Instruction–Data separation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Multi-agent consensus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Output confinement </a:t>
            </a:r>
          </a:p>
          <a:p>
            <a:r>
              <a:rPr lang="en-IN" b="1" dirty="0"/>
              <a:t>5. Evaluation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Attack Success Rate (ASR)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Latency overhead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False Positives (FP)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Trust Deviation Metric (TDM) 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868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17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88491" y="849816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03 –</a:t>
            </a:r>
            <a:r>
              <a:rPr lang="en-IN" sz="1400" dirty="0"/>
              <a:t> Secure Prompt Engineering Patterns for Cloud LLM Agents</a:t>
            </a:r>
          </a:p>
          <a:p>
            <a:r>
              <a:rPr lang="en-IN" sz="1400" dirty="0"/>
              <a:t>Shalini Sudarsan, Advait Patel, Charit Upadhyay, Vaishnavi </a:t>
            </a:r>
            <a:r>
              <a:rPr lang="en-IN" sz="1400" dirty="0" err="1"/>
              <a:t>Gudur</a:t>
            </a:r>
            <a:r>
              <a:rPr lang="en-IN" sz="1400" dirty="0"/>
              <a:t>, Prashanthi Matam  </a:t>
            </a:r>
            <a:r>
              <a:rPr lang="en-IN" sz="1400" b="1" dirty="0"/>
              <a:t>Year:</a:t>
            </a:r>
            <a:r>
              <a:rPr lang="en-IN" sz="1400" dirty="0"/>
              <a:t> 2026 | </a:t>
            </a:r>
            <a:r>
              <a:rPr lang="en-IN" sz="1400" b="1" dirty="0"/>
              <a:t>Conference:</a:t>
            </a:r>
            <a:r>
              <a:rPr lang="en-IN" sz="1400" dirty="0"/>
              <a:t> IEEE ICAIC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CE86D-8D24-5773-A7AF-90A36B42C2D4}"/>
              </a:ext>
            </a:extLst>
          </p:cNvPr>
          <p:cNvSpPr txBox="1"/>
          <p:nvPr/>
        </p:nvSpPr>
        <p:spPr>
          <a:xfrm>
            <a:off x="336000" y="1965899"/>
            <a:ext cx="8689366" cy="3788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Experiments were conducted across </a:t>
            </a:r>
            <a:r>
              <a:rPr lang="en-IN" b="1" dirty="0"/>
              <a:t>AWS, GCP and Microsoft Azure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Three isolated cloud testbeds were deployed with </a:t>
            </a:r>
            <a:r>
              <a:rPr lang="en-IN" b="1" dirty="0"/>
              <a:t>controlled access rights and logging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More than </a:t>
            </a:r>
            <a:r>
              <a:rPr lang="en-IN" b="1" dirty="0"/>
              <a:t>200 adversarial prompts</a:t>
            </a:r>
            <a:r>
              <a:rPr lang="en-IN" dirty="0"/>
              <a:t> were used.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Attack corpus covered </a:t>
            </a:r>
            <a:r>
              <a:rPr lang="en-IN" b="1" dirty="0"/>
              <a:t>direct, indirect and cross-agent prompt injection vectors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Tested LLMs included </a:t>
            </a:r>
            <a:r>
              <a:rPr lang="en-IN" b="1" dirty="0"/>
              <a:t>GPT-4, Claude and Gemini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Baseline agents were compared with agents protected using </a:t>
            </a:r>
            <a:r>
              <a:rPr lang="en-IN" b="1" dirty="0"/>
              <a:t>SPEP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Evaluation included </a:t>
            </a:r>
            <a:r>
              <a:rPr lang="en-IN" b="1" dirty="0"/>
              <a:t>500 test queries</a:t>
            </a:r>
            <a:r>
              <a:rPr lang="en-IN" dirty="0"/>
              <a:t> for latency analysis.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Metrics used: </a:t>
            </a:r>
            <a:r>
              <a:rPr lang="en-IN" b="1" dirty="0"/>
              <a:t>ASR, latency, FP and TDM</a:t>
            </a:r>
            <a:r>
              <a:rPr lang="en-IN" dirty="0"/>
              <a:t>.</a:t>
            </a:r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99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18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03 –</a:t>
            </a:r>
            <a:r>
              <a:rPr lang="en-IN" sz="1400" dirty="0"/>
              <a:t> Secure Prompt Engineering Patterns for Cloud LLM Agents</a:t>
            </a:r>
          </a:p>
          <a:p>
            <a:r>
              <a:rPr lang="en-IN" sz="1400" dirty="0"/>
              <a:t>Shalini Sudarsan, Advait Patel, Charit Upadhyay, Vaishnavi </a:t>
            </a:r>
            <a:r>
              <a:rPr lang="en-IN" sz="1400" dirty="0" err="1"/>
              <a:t>Gudur</a:t>
            </a:r>
            <a:r>
              <a:rPr lang="en-IN" sz="1400" dirty="0"/>
              <a:t>, Prashanthi Matam  </a:t>
            </a:r>
            <a:r>
              <a:rPr lang="en-IN" sz="1400" b="1" dirty="0"/>
              <a:t>Year:</a:t>
            </a:r>
            <a:r>
              <a:rPr lang="en-IN" sz="1400" dirty="0"/>
              <a:t> 2026 | </a:t>
            </a:r>
            <a:r>
              <a:rPr lang="en-IN" sz="1400" b="1" dirty="0"/>
              <a:t>Conference:</a:t>
            </a:r>
            <a:r>
              <a:rPr lang="en-IN" sz="1400" dirty="0"/>
              <a:t> IEEE ICAIC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5C2F4-E004-5295-A149-BFC887FC4447}"/>
              </a:ext>
            </a:extLst>
          </p:cNvPr>
          <p:cNvSpPr txBox="1"/>
          <p:nvPr/>
        </p:nvSpPr>
        <p:spPr>
          <a:xfrm>
            <a:off x="372185" y="1761996"/>
            <a:ext cx="11022501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With full SPEP implementation, the </a:t>
            </a:r>
            <a:r>
              <a:rPr lang="en-IN" b="1" dirty="0"/>
              <a:t>Attack Success Rate (ASR) dropped below 8%</a:t>
            </a:r>
            <a:r>
              <a:rPr lang="en-IN" dirty="0"/>
              <a:t> across all three cloud environments.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reported ASR was </a:t>
            </a:r>
            <a:r>
              <a:rPr lang="en-IN" b="1" dirty="0"/>
              <a:t>8% for AWS, 6% for GCP and 7% for Azure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Overall, SPEP achieved approximately </a:t>
            </a:r>
            <a:r>
              <a:rPr lang="en-IN" b="1" dirty="0"/>
              <a:t>92% reduction in successful prompt-driven compromise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average inference overhead was approximately </a:t>
            </a:r>
            <a:r>
              <a:rPr lang="en-IN" b="1" dirty="0"/>
              <a:t>+42 </a:t>
            </a:r>
            <a:r>
              <a:rPr lang="en-IN" b="1" dirty="0" err="1"/>
              <a:t>ms</a:t>
            </a:r>
            <a:r>
              <a:rPr lang="en-IN" dirty="0"/>
              <a:t>, while average latency overhead was </a:t>
            </a:r>
            <a:r>
              <a:rPr lang="en-IN" b="1" dirty="0"/>
              <a:t>7.8% across 500 queries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Input Sanitization</a:t>
            </a:r>
            <a:r>
              <a:rPr lang="en-IN" dirty="0"/>
              <a:t> blocked </a:t>
            </a:r>
            <a:r>
              <a:rPr lang="en-IN" b="1" dirty="0"/>
              <a:t>65% of direct injection attempts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Role/Context Separation</a:t>
            </a:r>
            <a:r>
              <a:rPr lang="en-IN" dirty="0"/>
              <a:t> reduced indirect injections by </a:t>
            </a:r>
            <a:r>
              <a:rPr lang="en-IN" b="1" dirty="0"/>
              <a:t>71%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Execution Confirmation</a:t>
            </a:r>
            <a:r>
              <a:rPr lang="en-IN" dirty="0"/>
              <a:t> prevented </a:t>
            </a:r>
            <a:r>
              <a:rPr lang="en-IN" b="1" dirty="0"/>
              <a:t>98% of destructive operations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results show that layered prompt-security patterns can reduce prompt-injection attacks with limited performance overhead.</a:t>
            </a:r>
          </a:p>
        </p:txBody>
      </p:sp>
    </p:spTree>
    <p:extLst>
      <p:ext uri="{BB962C8B-B14F-4D97-AF65-F5344CB8AC3E}">
        <p14:creationId xmlns:p14="http://schemas.microsoft.com/office/powerpoint/2010/main" val="877517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19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03 –</a:t>
            </a:r>
            <a:r>
              <a:rPr lang="en-IN" sz="1400" dirty="0"/>
              <a:t> Secure Prompt Engineering Patterns for Cloud LLM Agents</a:t>
            </a:r>
          </a:p>
          <a:p>
            <a:r>
              <a:rPr lang="en-IN" sz="1400" dirty="0"/>
              <a:t>Shalini Sudarsan, Advait Patel, Charit Upadhyay, Vaishnavi </a:t>
            </a:r>
            <a:r>
              <a:rPr lang="en-IN" sz="1400" dirty="0" err="1"/>
              <a:t>Gudur</a:t>
            </a:r>
            <a:r>
              <a:rPr lang="en-IN" sz="1400" dirty="0"/>
              <a:t>, Prashanthi Matam  </a:t>
            </a:r>
            <a:r>
              <a:rPr lang="en-IN" sz="1400" b="1" dirty="0"/>
              <a:t>Year:</a:t>
            </a:r>
            <a:r>
              <a:rPr lang="en-IN" sz="1400" dirty="0"/>
              <a:t> 2026 | </a:t>
            </a:r>
            <a:r>
              <a:rPr lang="en-IN" sz="1400" b="1" dirty="0"/>
              <a:t>Conference:</a:t>
            </a:r>
            <a:r>
              <a:rPr lang="en-IN" sz="1400" dirty="0"/>
              <a:t> IEEE ICAIC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987" y="2129166"/>
            <a:ext cx="5699760" cy="3842658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ounded Rectangle 17"/>
          <p:cNvSpPr/>
          <p:nvPr/>
        </p:nvSpPr>
        <p:spPr>
          <a:xfrm>
            <a:off x="6129975" y="2148841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259202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393386" y="2148841"/>
            <a:ext cx="5441307" cy="45719"/>
          </a:xfrm>
          <a:prstGeom prst="rect">
            <a:avLst/>
          </a:prstGeom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393386" y="1799012"/>
            <a:ext cx="107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9202" y="1779509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D0E28-58DF-2544-BBE1-D95B75F74C78}"/>
              </a:ext>
            </a:extLst>
          </p:cNvPr>
          <p:cNvSpPr txBox="1"/>
          <p:nvPr/>
        </p:nvSpPr>
        <p:spPr>
          <a:xfrm>
            <a:off x="362265" y="2214235"/>
            <a:ext cx="5640166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Provides a </a:t>
            </a:r>
            <a:r>
              <a:rPr lang="en-IN" b="1" dirty="0"/>
              <a:t>structured threat taxonomy</a:t>
            </a:r>
            <a:r>
              <a:rPr lang="en-IN" dirty="0"/>
              <a:t> for cloud-integrated LLM agents.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multiple reusable </a:t>
            </a:r>
            <a:r>
              <a:rPr lang="en-IN" b="1" dirty="0"/>
              <a:t>security patterns</a:t>
            </a:r>
            <a:r>
              <a:rPr lang="en-IN" dirty="0"/>
              <a:t> instead of a single </a:t>
            </a:r>
            <a:r>
              <a:rPr lang="en-IN" dirty="0" err="1"/>
              <a:t>defense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Covers </a:t>
            </a:r>
            <a:r>
              <a:rPr lang="en-IN" b="1" dirty="0"/>
              <a:t>direct, indirect and multi-stage prompt injection attacks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Evaluated across </a:t>
            </a:r>
            <a:r>
              <a:rPr lang="en-IN" b="1" dirty="0"/>
              <a:t>AWS, GCP and Azure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Supports </a:t>
            </a:r>
            <a:r>
              <a:rPr lang="en-IN" b="1" dirty="0"/>
              <a:t>multi-agent consensus</a:t>
            </a:r>
            <a:r>
              <a:rPr lang="en-IN" dirty="0"/>
              <a:t> and cross-checking of critical actions.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Reports measurable security and performance metrics.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BD6F99-AF4A-A2FD-B044-D8012354A8E7}"/>
              </a:ext>
            </a:extLst>
          </p:cNvPr>
          <p:cNvSpPr txBox="1"/>
          <p:nvPr/>
        </p:nvSpPr>
        <p:spPr>
          <a:xfrm>
            <a:off x="6259203" y="2204563"/>
            <a:ext cx="5292332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Security patterns can introduce </a:t>
            </a:r>
            <a:r>
              <a:rPr lang="en-IN" b="1" dirty="0"/>
              <a:t>additional latency and operational cost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Multi-agent consensus requires multiple agents and increases system complexity.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Output confinement requires </a:t>
            </a:r>
            <a:r>
              <a:rPr lang="en-IN" b="1" dirty="0"/>
              <a:t>continuous policy/allow-list maintenance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Some patterns may require </a:t>
            </a:r>
            <a:r>
              <a:rPr lang="en-IN" b="1" dirty="0"/>
              <a:t>application redesign</a:t>
            </a:r>
            <a:r>
              <a:rPr lang="en-IN" dirty="0"/>
              <a:t>, such as strict instruction-data separation.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evaluation is focused mainly on </a:t>
            </a:r>
            <a:r>
              <a:rPr lang="en-IN" b="1" dirty="0"/>
              <a:t>cloud-integrated LLM agents and prompt injection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98163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9DB81D-F81A-77A8-2F6E-AAC257503176}"/>
              </a:ext>
            </a:extLst>
          </p:cNvPr>
          <p:cNvSpPr/>
          <p:nvPr/>
        </p:nvSpPr>
        <p:spPr>
          <a:xfrm>
            <a:off x="251927" y="2099388"/>
            <a:ext cx="11196734" cy="37227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z="1800" smtClean="0">
                <a:solidFill>
                  <a:schemeClr val="tx1"/>
                </a:solidFill>
              </a:rPr>
              <a:t>20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877163"/>
            <a:ext cx="2063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8" y="1326501"/>
            <a:ext cx="11920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2799" y="862390"/>
            <a:ext cx="10020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/>
              <a:t>Ref 03 –</a:t>
            </a:r>
            <a:r>
              <a:rPr lang="en-IN" sz="1400" dirty="0"/>
              <a:t> Secure Prompt Engineering Patterns for Cloud LLM Agents</a:t>
            </a:r>
          </a:p>
          <a:p>
            <a:r>
              <a:rPr lang="en-IN" sz="1400" dirty="0"/>
              <a:t>Shalini Sudarsan, Advait Patel, Charit Upadhyay, Vaishnavi </a:t>
            </a:r>
            <a:r>
              <a:rPr lang="en-IN" sz="1400" dirty="0" err="1"/>
              <a:t>Gudur</a:t>
            </a:r>
            <a:r>
              <a:rPr lang="en-IN" sz="1400" dirty="0"/>
              <a:t>, Prashanthi Matam  </a:t>
            </a:r>
            <a:r>
              <a:rPr lang="en-IN" sz="1400" b="1" dirty="0"/>
              <a:t>Year:</a:t>
            </a:r>
            <a:r>
              <a:rPr lang="en-IN" sz="1400" dirty="0"/>
              <a:t> 2026 | </a:t>
            </a:r>
            <a:r>
              <a:rPr lang="en-IN" sz="1400" b="1" dirty="0"/>
              <a:t>Conference:</a:t>
            </a:r>
            <a:r>
              <a:rPr lang="en-IN" sz="1400" dirty="0"/>
              <a:t> IEEE ICAIC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4BD48F-17CB-ABAE-7339-D45C682B2885}"/>
              </a:ext>
            </a:extLst>
          </p:cNvPr>
          <p:cNvSpPr txBox="1"/>
          <p:nvPr/>
        </p:nvSpPr>
        <p:spPr>
          <a:xfrm>
            <a:off x="251927" y="2165714"/>
            <a:ext cx="11095070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Provides a strong foundation for the </a:t>
            </a:r>
            <a:r>
              <a:rPr lang="en-IN" b="1" dirty="0"/>
              <a:t>AI Security Validation</a:t>
            </a:r>
            <a:r>
              <a:rPr lang="en-IN" dirty="0"/>
              <a:t> part of my research.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 </a:t>
            </a:r>
            <a:r>
              <a:rPr lang="en-IN" b="1" dirty="0"/>
              <a:t>threat taxonomy</a:t>
            </a:r>
            <a:r>
              <a:rPr lang="en-IN" dirty="0"/>
              <a:t> can support validation of prompt injection, privilege escalation and data-poisoning attacks.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Multi-Agent Consensus</a:t>
            </a:r>
            <a:r>
              <a:rPr lang="en-IN" dirty="0"/>
              <a:t> is directly relevant to my </a:t>
            </a:r>
            <a:r>
              <a:rPr lang="en-IN" b="1" dirty="0"/>
              <a:t>Red Team, Blue Team and Judge Agents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Instruction–Data Separation</a:t>
            </a:r>
            <a:r>
              <a:rPr lang="en-IN" dirty="0"/>
              <a:t> can be used as a security-control pattern for LLM interactions.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Output Confinement</a:t>
            </a:r>
            <a:r>
              <a:rPr lang="en-IN" dirty="0"/>
              <a:t> can support validation of unauthorized tool/API actions.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ASR, latency and Trust Deviation Metrics</a:t>
            </a:r>
            <a:r>
              <a:rPr lang="en-IN" dirty="0"/>
              <a:t> provide useful evaluation measures for my security validation platform.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My research extends these ideas by combining </a:t>
            </a:r>
            <a:r>
              <a:rPr lang="en-IN" b="1" dirty="0"/>
              <a:t>LLM security validation with compliance auditing, risk analysis, forecasting, roadmap generation and reporting</a:t>
            </a:r>
            <a:r>
              <a:rPr lang="en-IN" dirty="0"/>
              <a:t>. </a:t>
            </a:r>
          </a:p>
          <a:p>
            <a:pPr>
              <a:lnSpc>
                <a:spcPct val="150000"/>
              </a:lnSpc>
            </a:pP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7205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mtClean="0">
                <a:solidFill>
                  <a:schemeClr val="tx1"/>
                </a:solidFill>
              </a:rPr>
              <a:t>21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04186" y="1013061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Validation                       Platform 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A2E78-DCB8-45A9-44E7-80C1EB7B0C71}"/>
              </a:ext>
            </a:extLst>
          </p:cNvPr>
          <p:cNvSpPr txBox="1"/>
          <p:nvPr/>
        </p:nvSpPr>
        <p:spPr>
          <a:xfrm>
            <a:off x="1726163" y="19407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E3A24D8-7919-A75A-5B45-E466B6603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547625"/>
              </p:ext>
            </p:extLst>
          </p:nvPr>
        </p:nvGraphicFramePr>
        <p:xfrm>
          <a:off x="196769" y="1273215"/>
          <a:ext cx="11748303" cy="5223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4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2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432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Idea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Zeng et al. – Multi-AI Agent Oriented Privacy Policy Compliance Checking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Multi-agent LLM + RAG for automated privacy-policy compliance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Multi-agent collaboration, evidence grounding, dynamic routing, consistency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Focused mainly on IoT privacy policies and PIPL compliance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700384"/>
                  </a:ext>
                </a:extLst>
              </a:tr>
              <a:tr h="1472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Liu et al. – </a:t>
                      </a:r>
                      <a:r>
                        <a:rPr lang="en-IN" b="1" dirty="0" err="1"/>
                        <a:t>DataSentinel</a:t>
                      </a:r>
                      <a:r>
                        <a:rPr lang="en-IN" b="1" dirty="0"/>
                        <a:t>: A Game-Theoretic Detection of Prompt Injection Attacks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Game-theoretic detection of adaptive prompt-injection attacks in LLM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Adaptive attack evaluation, minimax optimization, low FPR/FNR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fine-tuning and computational resources; effectiveness depends on attack/model setting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446439"/>
                  </a:ext>
                </a:extLst>
              </a:tr>
              <a:tr h="1702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Sudarsan et al. – Secure Prompt Engineering Patterns for Cloud LLM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Security patterns for protecting cloud LLM agents from direct and indirect 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Tested mainly on selected cloud platforms and adversarial prompt scenarios; adds some latency/overhead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fine-tuning and computational resources; effectiveness depends on attack/model setting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58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7E60D7-07A0-BF33-3E66-E2F8C99B0E41}"/>
              </a:ext>
            </a:extLst>
          </p:cNvPr>
          <p:cNvSpPr/>
          <p:nvPr/>
        </p:nvSpPr>
        <p:spPr>
          <a:xfrm>
            <a:off x="-1" y="6980"/>
            <a:ext cx="12192000" cy="837398"/>
          </a:xfrm>
          <a:prstGeom prst="rect">
            <a:avLst/>
          </a:prstGeom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7C7729E-193F-258C-8EF4-20F3CCBF18C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60922"/>
            <a:ext cx="997974" cy="365125"/>
          </a:xfrm>
        </p:spPr>
        <p:txBody>
          <a:bodyPr/>
          <a:lstStyle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20-09-2026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4BF904-2B4D-1986-6D4C-27CBD9A5EF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7443" y="6478792"/>
            <a:ext cx="876067" cy="379208"/>
          </a:xfrm>
        </p:spPr>
        <p:txBody>
          <a:bodyPr/>
          <a:lstStyle/>
          <a:p>
            <a:fld id="{0F06A4E2-163B-4ABA-8562-AD05AC3F17C5}" type="slidenum">
              <a:rPr lang="en-IN" smtClean="0">
                <a:solidFill>
                  <a:schemeClr val="tx1"/>
                </a:solidFill>
              </a:rPr>
              <a:t>22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CE1DE-D210-C7A2-61C0-FF7B6B511F8A}"/>
              </a:ext>
            </a:extLst>
          </p:cNvPr>
          <p:cNvSpPr txBox="1"/>
          <p:nvPr/>
        </p:nvSpPr>
        <p:spPr>
          <a:xfrm flipH="1">
            <a:off x="135927" y="877163"/>
            <a:ext cx="7167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8955476" y="31393"/>
            <a:ext cx="3148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Mahammad Firose Shaik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AIML – B05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#1.23BQ1A61A4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#2.23BQ1A6196</a:t>
            </a:r>
          </a:p>
          <a:p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#3.24BQ5A6112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#4.23BQ1A6174</a:t>
            </a:r>
            <a:endParaRPr lang="en-IN"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6" y="92353"/>
            <a:ext cx="993618" cy="693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C79EE-C1C4-E275-0987-67B7B3A60CCB}"/>
              </a:ext>
            </a:extLst>
          </p:cNvPr>
          <p:cNvSpPr txBox="1"/>
          <p:nvPr/>
        </p:nvSpPr>
        <p:spPr>
          <a:xfrm>
            <a:off x="1531467" y="82617"/>
            <a:ext cx="7424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dirty="0"/>
              <a:t>Agentic AI-Based Smart Compliance Auditor &amp; AI Security </a:t>
            </a:r>
            <a:r>
              <a:rPr lang="en-IN"/>
              <a:t>Validation                          Platform </a:t>
            </a:r>
            <a:r>
              <a:rPr lang="en-IN" dirty="0"/>
              <a:t>for Enterprise LLM Systems</a:t>
            </a:r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D814EF05-CC25-9D43-57B5-90EDB1ED147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999271" y="6460922"/>
            <a:ext cx="4114800" cy="36512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1448" y="3010622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2204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4046</Words>
  <Application>Microsoft Office PowerPoint</Application>
  <PresentationFormat>Widescreen</PresentationFormat>
  <Paragraphs>495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mualidhar V</dc:creator>
  <cp:lastModifiedBy>pds iswarya</cp:lastModifiedBy>
  <cp:revision>57</cp:revision>
  <dcterms:created xsi:type="dcterms:W3CDTF">2023-07-18T12:47:32Z</dcterms:created>
  <dcterms:modified xsi:type="dcterms:W3CDTF">2026-09-20T13:05:26Z</dcterms:modified>
</cp:coreProperties>
</file>